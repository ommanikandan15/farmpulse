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armPulse" id="{0836dadc-7f23-349e-4e55-1f221321009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503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503F"/>
                </a:solidFill>
                <a:latin typeface="+mn-lt"/>
              </a:rPr>
              <a:t>Why Plot 2 is flagged (factor contribution)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50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Rainfall deficit</c:v>
                  </c:pt>
                  <c:pt idx="1">
                    <c:v>Low soil moisture</c:v>
                  </c:pt>
                  <c:pt idx="2">
                    <c:v>Leaf greenness drop</c:v>
                  </c:pt>
                  <c:pt idx="3">
                    <c:v>Heat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28</c:v>
                </c:pt>
                <c:pt idx="2">
                  <c:v>17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50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A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FarmPulse</a:t>
            </a:r>
            <a:endParaRPr lang="en-US" dirty="0"/>
          </a:p>
        </p:txBody>
      </p:sp>
      <p:sp>
        <p:nvSpPr>
          <p:cNvPr id="3" name="pulse0"/>
          <p:cNvSpPr/>
          <p:nvPr/>
        </p:nvSpPr>
        <p:spPr>
          <a:xfrm>
            <a:off x="5760720" y="822960"/>
            <a:ext cx="3108960" cy="31089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pulse1"/>
          <p:cNvSpPr/>
          <p:nvPr/>
        </p:nvSpPr>
        <p:spPr>
          <a:xfrm>
            <a:off x="6217920" y="1280160"/>
            <a:ext cx="2194560" cy="219456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pulse2"/>
          <p:cNvSpPr/>
          <p:nvPr/>
        </p:nvSpPr>
        <p:spPr>
          <a:xfrm>
            <a:off x="6675120" y="1737360"/>
            <a:ext cx="1280160" cy="128016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pulse-core"/>
          <p:cNvSpPr/>
          <p:nvPr/>
        </p:nvSpPr>
        <p:spPr>
          <a:xfrm>
            <a:off x="7132320" y="21945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Explainable Crop Stress Advisory Software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Don’t just tell the farmer what. Tell them why.</a:t>
            </a:r>
            <a:endParaRPr lang="en-US" sz="1600" dirty="0"/>
          </a:p>
        </p:txBody>
      </p:sp>
      <p:sp>
        <p:nvSpPr>
          <p:cNvPr id="9" name="id-chip"/>
          <p:cNvSpPr/>
          <p:nvPr/>
        </p:nvSpPr>
        <p:spPr>
          <a:xfrm>
            <a:off x="548640" y="3566160"/>
            <a:ext cx="566928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IC26-01-01  ·  AgriTech &amp; Supply Chain  ·  Innovators Conclave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TEAM  </a:t>
            </a:r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PRIME ELITE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S. Om Manikandan (25AD148)  ·  Muthayammal Engineering College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Farmers get a score, not a reason</a:t>
            </a:r>
            <a:endParaRPr lang="en-US" dirty="0"/>
          </a:p>
        </p:txBody>
      </p:sp>
      <p:sp>
        <p:nvSpPr>
          <p:cNvPr id="3" name="problem-card0"/>
          <p:cNvSpPr/>
          <p:nvPr/>
        </p:nvSpPr>
        <p:spPr>
          <a:xfrm>
            <a:off x="457200" y="1188720"/>
            <a:ext cx="25603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Black-box scores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“Stress: 72%” but why? Farmers can’t act on a number they don’t trust.</a:t>
            </a:r>
            <a:endParaRPr lang="en-US" sz="1300" dirty="0"/>
          </a:p>
        </p:txBody>
      </p:sp>
      <p:sp>
        <p:nvSpPr>
          <p:cNvPr id="7" name="problem-card1"/>
          <p:cNvSpPr/>
          <p:nvPr/>
        </p:nvSpPr>
        <p:spPr>
          <a:xfrm>
            <a:off x="3291840" y="1188720"/>
            <a:ext cx="25603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2044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Late detection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Stress is usually spotted by eye only after yield is already lost.</a:t>
            </a:r>
            <a:endParaRPr lang="en-US" sz="1300" dirty="0"/>
          </a:p>
        </p:txBody>
      </p:sp>
      <p:sp>
        <p:nvSpPr>
          <p:cNvPr id="11" name="problem-card2"/>
          <p:cNvSpPr/>
          <p:nvPr/>
        </p:nvSpPr>
        <p:spPr>
          <a:xfrm>
            <a:off x="6126480" y="1188720"/>
            <a:ext cx="256032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5508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Access gap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Tools are English-only and need costly sensors or experts.</a:t>
            </a:r>
            <a:endParaRPr lang="en-US" sz="1300" dirty="0"/>
          </a:p>
        </p:txBody>
      </p:sp>
      <p:sp>
        <p:nvSpPr>
          <p:cNvPr id="15" name="problem-result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Result: low adoption, wasted water and inputs, unpredictable supply.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FarmPulse difference: from “what” to “why”</a:t>
            </a:r>
            <a:endParaRPr lang="en-US" dirty="0"/>
          </a:p>
        </p:txBody>
      </p:sp>
      <p:sp>
        <p:nvSpPr>
          <p:cNvPr id="3" name="typical-card"/>
          <p:cNvSpPr/>
          <p:nvPr/>
        </p:nvSpPr>
        <p:spPr>
          <a:xfrm>
            <a:off x="457200" y="1280160"/>
            <a:ext cx="356616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TYPICAL AGRI-AI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Stress: 72%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No reason. No action. No trust.</a:t>
            </a:r>
            <a:endParaRPr lang="en-US" sz="1400" dirty="0"/>
          </a:p>
        </p:txBody>
      </p:sp>
      <p:sp>
        <p:nvSpPr>
          <p:cNvPr id="7" name="what-why-arrow"/>
          <p:cNvSpPr/>
          <p:nvPr/>
        </p:nvSpPr>
        <p:spPr>
          <a:xfrm>
            <a:off x="4114800" y="2834640"/>
            <a:ext cx="9144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farmpulse-card"/>
          <p:cNvSpPr/>
          <p:nvPr/>
        </p:nvSpPr>
        <p:spPr>
          <a:xfrm>
            <a:off x="5120640" y="1280160"/>
            <a:ext cx="3566160" cy="310896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39496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FARMPULSE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Water stress: HIGH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Why: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 rain for 9 days, soil moisture 18%, leaf greenness down 14%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Action: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irrigate within 2 days (about 40 mm)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How FarmPulse works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051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  INPUTS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1051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  DETECT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051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  EXPLAIN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051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  ADVISE</a:t>
            </a:r>
            <a:endParaRPr lang="en-US" sz="1100" dirty="0"/>
          </a:p>
        </p:txBody>
      </p:sp>
      <p:sp>
        <p:nvSpPr>
          <p:cNvPr id="7" name="input0"/>
          <p:cNvSpPr/>
          <p:nvPr/>
        </p:nvSpPr>
        <p:spPr>
          <a:xfrm>
            <a:off x="365760" y="1371600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Satellite NDVI / NDWI</a:t>
            </a:r>
            <a:endParaRPr lang="en-US" sz="1200" dirty="0"/>
          </a:p>
        </p:txBody>
      </p:sp>
      <p:sp>
        <p:nvSpPr>
          <p:cNvPr id="9" name="input1"/>
          <p:cNvSpPr/>
          <p:nvPr/>
        </p:nvSpPr>
        <p:spPr>
          <a:xfrm>
            <a:off x="365760" y="2029968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20299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Weather API</a:t>
            </a:r>
            <a:endParaRPr lang="en-US" sz="1200" dirty="0"/>
          </a:p>
        </p:txBody>
      </p:sp>
      <p:sp>
        <p:nvSpPr>
          <p:cNvPr id="11" name="input2"/>
          <p:cNvSpPr/>
          <p:nvPr/>
        </p:nvSpPr>
        <p:spPr>
          <a:xfrm>
            <a:off x="365760" y="2688336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7200" y="26883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Soil sensor (optional)</a:t>
            </a:r>
            <a:endParaRPr lang="en-US" sz="1200" dirty="0"/>
          </a:p>
        </p:txBody>
      </p:sp>
      <p:sp>
        <p:nvSpPr>
          <p:cNvPr id="13" name="input3"/>
          <p:cNvSpPr/>
          <p:nvPr/>
        </p:nvSpPr>
        <p:spPr>
          <a:xfrm>
            <a:off x="365760" y="3346704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7200" y="33467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Leaf photo + crop info</a:t>
            </a:r>
            <a:endParaRPr lang="en-US" sz="1200" dirty="0"/>
          </a:p>
        </p:txBody>
      </p:sp>
      <p:sp>
        <p:nvSpPr>
          <p:cNvPr id="15" name="detect-box"/>
          <p:cNvSpPr/>
          <p:nvPr/>
        </p:nvSpPr>
        <p:spPr>
          <a:xfrm>
            <a:off x="2743200" y="1371600"/>
            <a:ext cx="1828800" cy="2523744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880360" y="1554480"/>
            <a:ext cx="1554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Hybrid engine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Crop-stage rules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XGBoost stress model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MobileNet leaf scan</a:t>
            </a:r>
            <a:endParaRPr lang="en-US" sz="1200" dirty="0"/>
          </a:p>
        </p:txBody>
      </p:sp>
      <p:sp>
        <p:nvSpPr>
          <p:cNvPr id="17" name="explain-box"/>
          <p:cNvSpPr/>
          <p:nvPr/>
        </p:nvSpPr>
        <p:spPr>
          <a:xfrm>
            <a:off x="5029200" y="1371600"/>
            <a:ext cx="1828800" cy="2523744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166360" y="1554480"/>
            <a:ext cx="1554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SHAP + plain words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Ranked top factors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Confidence score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Tamil, English, voice</a:t>
            </a:r>
            <a:endParaRPr lang="en-US" sz="1200" dirty="0"/>
          </a:p>
        </p:txBody>
      </p:sp>
      <p:sp>
        <p:nvSpPr>
          <p:cNvPr id="19" name="advise-box"/>
          <p:cNvSpPr/>
          <p:nvPr/>
        </p:nvSpPr>
        <p:spPr>
          <a:xfrm>
            <a:off x="7315200" y="1371600"/>
            <a:ext cx="1463040" cy="2523744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24928" y="1554480"/>
            <a:ext cx="1280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One clear action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Traffic light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7-day trend</a:t>
            </a:r>
            <a:endParaRPr lang="en-US" sz="1200" dirty="0"/>
          </a:p>
        </p:txBody>
      </p:sp>
      <p:sp>
        <p:nvSpPr>
          <p:cNvPr id="21" name="flow-arrow0"/>
          <p:cNvSpPr/>
          <p:nvPr/>
        </p:nvSpPr>
        <p:spPr>
          <a:xfrm>
            <a:off x="2331720" y="2633472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flow-arrow1"/>
          <p:cNvSpPr/>
          <p:nvPr/>
        </p:nvSpPr>
        <p:spPr>
          <a:xfrm>
            <a:off x="4617720" y="2633472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flow-arrow2"/>
          <p:cNvSpPr/>
          <p:nvPr/>
        </p:nvSpPr>
        <p:spPr>
          <a:xfrm>
            <a:off x="6903720" y="2633472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levels-bar"/>
          <p:cNvSpPr/>
          <p:nvPr/>
        </p:nvSpPr>
        <p:spPr>
          <a:xfrm>
            <a:off x="365760" y="4206240"/>
            <a:ext cx="841248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Works at 3 levels:  satellite only (free)  →  + weather  →  + soil sensor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From numbers to words in 4 steps</a:t>
            </a:r>
            <a:endParaRPr lang="en-US" dirty="0"/>
          </a:p>
        </p:txBody>
      </p:sp>
      <p:sp>
        <p:nvSpPr>
          <p:cNvPr id="3" name="step-card0"/>
          <p:cNvSpPr/>
          <p:nvPr/>
        </p:nvSpPr>
        <p:spPr>
          <a:xfrm>
            <a:off x="457200" y="1188720"/>
            <a:ext cx="1737360" cy="210312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-bar0"/>
          <p:cNvSpPr/>
          <p:nvPr/>
        </p:nvSpPr>
        <p:spPr>
          <a:xfrm>
            <a:off x="457200" y="1188720"/>
            <a:ext cx="1737360" cy="91440"/>
          </a:xfrm>
          <a:prstGeom prst="roundRect">
            <a:avLst>
              <a:gd name="adj" fmla="val 100000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Collect features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Rain deficit 9 days, soil 18%, greenness −14%</a:t>
            </a:r>
            <a:endParaRPr lang="en-US" sz="1200" dirty="0"/>
          </a:p>
        </p:txBody>
      </p:sp>
      <p:sp>
        <p:nvSpPr>
          <p:cNvPr id="8" name="step-card1"/>
          <p:cNvSpPr/>
          <p:nvPr/>
        </p:nvSpPr>
        <p:spPr>
          <a:xfrm>
            <a:off x="2651760" y="1188720"/>
            <a:ext cx="1737360" cy="210312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ep-bar1"/>
          <p:cNvSpPr/>
          <p:nvPr/>
        </p:nvSpPr>
        <p:spPr>
          <a:xfrm>
            <a:off x="2651760" y="1188720"/>
            <a:ext cx="1737360" cy="91440"/>
          </a:xfrm>
          <a:prstGeom prst="roundRect">
            <a:avLst>
              <a:gd name="adj" fmla="val 10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Predict stress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2860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flags water stress, level HIGH</a:t>
            </a:r>
            <a:endParaRPr lang="en-US" sz="1200" dirty="0"/>
          </a:p>
        </p:txBody>
      </p:sp>
      <p:sp>
        <p:nvSpPr>
          <p:cNvPr id="13" name="step-card2"/>
          <p:cNvSpPr/>
          <p:nvPr/>
        </p:nvSpPr>
        <p:spPr>
          <a:xfrm>
            <a:off x="4846320" y="1188720"/>
            <a:ext cx="1737360" cy="210312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tep-bar2"/>
          <p:cNvSpPr/>
          <p:nvPr/>
        </p:nvSpPr>
        <p:spPr>
          <a:xfrm>
            <a:off x="4846320" y="1188720"/>
            <a:ext cx="1737360" cy="91440"/>
          </a:xfrm>
          <a:prstGeom prst="roundRect">
            <a:avLst>
              <a:gd name="adj" fmla="val 100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Rank reasons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2860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SHAP: rain 45%, soil 28%, greenness 17%</a:t>
            </a:r>
            <a:endParaRPr lang="en-US" sz="1200" dirty="0"/>
          </a:p>
        </p:txBody>
      </p:sp>
      <p:sp>
        <p:nvSpPr>
          <p:cNvPr id="18" name="step-card3"/>
          <p:cNvSpPr/>
          <p:nvPr/>
        </p:nvSpPr>
        <p:spPr>
          <a:xfrm>
            <a:off x="7040880" y="1188720"/>
            <a:ext cx="1737360" cy="210312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tep-bar3"/>
          <p:cNvSpPr/>
          <p:nvPr/>
        </p:nvSpPr>
        <p:spPr>
          <a:xfrm>
            <a:off x="7040880" y="1188720"/>
            <a:ext cx="1737360" cy="91440"/>
          </a:xfrm>
          <a:prstGeom prst="roundRect">
            <a:avLst>
              <a:gd name="adj" fmla="val 100000"/>
            </a:avLst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2376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Write advice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2860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Template builds a Tamil or English sentence</a:t>
            </a:r>
            <a:endParaRPr lang="en-US" sz="1200" dirty="0"/>
          </a:p>
        </p:txBody>
      </p:sp>
      <p:sp>
        <p:nvSpPr>
          <p:cNvPr id="23" name="engine-arrow0"/>
          <p:cNvSpPr/>
          <p:nvPr/>
        </p:nvSpPr>
        <p:spPr>
          <a:xfrm>
            <a:off x="2240280" y="224028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engine-arrow1"/>
          <p:cNvSpPr/>
          <p:nvPr/>
        </p:nvSpPr>
        <p:spPr>
          <a:xfrm>
            <a:off x="4434840" y="224028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engine-arrow2"/>
          <p:cNvSpPr/>
          <p:nvPr/>
        </p:nvSpPr>
        <p:spPr>
          <a:xfrm>
            <a:off x="6629400" y="224028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sample-output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3611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“Water stress: HIGH. Why: no rain for 9 days and low soil moisture. Action: irrigate within 2 days.”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Every alert shows its reasoning</a:t>
            </a:r>
            <a:endParaRPr lang="en-US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Illustrative sample values</a:t>
            </a:r>
            <a:endParaRPr lang="en-US" sz="1000" dirty="0"/>
          </a:p>
        </p:txBody>
      </p:sp>
      <p:sp>
        <p:nvSpPr>
          <p:cNvPr id="5" name="advice-card"/>
          <p:cNvSpPr/>
          <p:nvPr/>
        </p:nvSpPr>
        <p:spPr>
          <a:xfrm>
            <a:off x="5669280" y="1188720"/>
            <a:ext cx="3017520" cy="320040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atus-pill"/>
          <p:cNvSpPr/>
          <p:nvPr/>
        </p:nvSpPr>
        <p:spPr>
          <a:xfrm>
            <a:off x="5897880" y="1417320"/>
            <a:ext cx="25603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89788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HIGH: Water stress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Confidence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86%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2606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Irrigate within 2 days, about 40 mm. Re-check in 3 days.</a:t>
            </a:r>
            <a:endParaRPr lang="en-US" sz="1300" dirty="0"/>
          </a:p>
        </p:txBody>
      </p:sp>
      <p:sp>
        <p:nvSpPr>
          <p:cNvPr id="10" name="light0"/>
          <p:cNvSpPr/>
          <p:nvPr/>
        </p:nvSpPr>
        <p:spPr>
          <a:xfrm>
            <a:off x="5897880" y="3611880"/>
            <a:ext cx="292608" cy="292608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11" name="light1"/>
          <p:cNvSpPr/>
          <p:nvPr/>
        </p:nvSpPr>
        <p:spPr>
          <a:xfrm>
            <a:off x="6309360" y="3611880"/>
            <a:ext cx="292608" cy="292608"/>
          </a:xfrm>
          <a:prstGeom prst="ellipse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12" name="light2"/>
          <p:cNvSpPr/>
          <p:nvPr/>
        </p:nvSpPr>
        <p:spPr>
          <a:xfrm>
            <a:off x="6720840" y="361188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78040" y="3630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Tamil · English · Voice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Four stresses, one simple dashboard</a:t>
            </a:r>
            <a:endParaRPr lang="en-US" dirty="0"/>
          </a:p>
        </p:txBody>
      </p:sp>
      <p:sp>
        <p:nvSpPr>
          <p:cNvPr id="3" name="stress-card0"/>
          <p:cNvSpPr/>
          <p:nvPr/>
        </p:nvSpPr>
        <p:spPr>
          <a:xfrm>
            <a:off x="457200" y="118872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ress-head0"/>
          <p:cNvSpPr/>
          <p:nvPr/>
        </p:nvSpPr>
        <p:spPr>
          <a:xfrm>
            <a:off x="457200" y="1188720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Signals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Rainfall gap, NDWI drop, low soil moisture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Action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Irrigate</a:t>
            </a:r>
            <a:endParaRPr lang="en-US" sz="1200" dirty="0"/>
          </a:p>
        </p:txBody>
      </p:sp>
      <p:sp>
        <p:nvSpPr>
          <p:cNvPr id="7" name="stress-card1"/>
          <p:cNvSpPr/>
          <p:nvPr/>
        </p:nvSpPr>
        <p:spPr>
          <a:xfrm>
            <a:off x="2560320" y="118872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ress-head1"/>
          <p:cNvSpPr/>
          <p:nvPr/>
        </p:nvSpPr>
        <p:spPr>
          <a:xfrm>
            <a:off x="2560320" y="1188720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9748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Nutrient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87452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Signals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Pale-green NDVI, slow growth curve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Action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Fertilize</a:t>
            </a:r>
            <a:endParaRPr lang="en-US" sz="1200" dirty="0"/>
          </a:p>
        </p:txBody>
      </p:sp>
      <p:sp>
        <p:nvSpPr>
          <p:cNvPr id="11" name="stress-card2"/>
          <p:cNvSpPr/>
          <p:nvPr/>
        </p:nvSpPr>
        <p:spPr>
          <a:xfrm>
            <a:off x="4663440" y="118872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tress-head2"/>
          <p:cNvSpPr/>
          <p:nvPr/>
        </p:nvSpPr>
        <p:spPr>
          <a:xfrm>
            <a:off x="4663440" y="1188720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Pest &amp; disease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7452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Signals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Leaf spots found by CNN, humidity spikes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Action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Spray</a:t>
            </a:r>
            <a:endParaRPr lang="en-US" sz="1200" dirty="0"/>
          </a:p>
        </p:txBody>
      </p:sp>
      <p:sp>
        <p:nvSpPr>
          <p:cNvPr id="15" name="stress-card3"/>
          <p:cNvSpPr/>
          <p:nvPr/>
        </p:nvSpPr>
        <p:spPr>
          <a:xfrm>
            <a:off x="6766560" y="118872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ress-head3"/>
          <p:cNvSpPr/>
          <p:nvPr/>
        </p:nvSpPr>
        <p:spPr>
          <a:xfrm>
            <a:off x="6766560" y="1188720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0372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87452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Signals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Temperature above crop limit, midday canopy dip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Action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Shade or re-time irrigation</a:t>
            </a:r>
            <a:endParaRPr lang="en-US" sz="1200" dirty="0"/>
          </a:p>
        </p:txBody>
      </p:sp>
      <p:sp>
        <p:nvSpPr>
          <p:cNvPr id="19" name="rules-ml-ba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Rules cover known crop thresholds; machine learning learns the hidden patterns.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Technology stack</a:t>
            </a:r>
            <a:endParaRPr lang="en-US" dirty="0"/>
          </a:p>
        </p:txBody>
      </p:sp>
      <p:sp>
        <p:nvSpPr>
          <p:cNvPr id="3" name="layer-label0"/>
          <p:cNvSpPr/>
          <p:nvPr/>
        </p:nvSpPr>
        <p:spPr>
          <a:xfrm>
            <a:off x="457200" y="1097280"/>
            <a:ext cx="201168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Frontend</a:t>
            </a:r>
            <a:endParaRPr lang="en-US" sz="1600" dirty="0"/>
          </a:p>
        </p:txBody>
      </p:sp>
      <p:sp>
        <p:nvSpPr>
          <p:cNvPr id="5" name="layer-tools0"/>
          <p:cNvSpPr/>
          <p:nvPr/>
        </p:nvSpPr>
        <p:spPr>
          <a:xfrm>
            <a:off x="2560320" y="1097280"/>
            <a:ext cx="61264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743200" y="10972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 or Flutter, mobile-first PWA</a:t>
            </a:r>
            <a:endParaRPr lang="en-US" sz="1400" dirty="0"/>
          </a:p>
        </p:txBody>
      </p:sp>
      <p:sp>
        <p:nvSpPr>
          <p:cNvPr id="7" name="layer-label1"/>
          <p:cNvSpPr/>
          <p:nvPr/>
        </p:nvSpPr>
        <p:spPr>
          <a:xfrm>
            <a:off x="457200" y="1920240"/>
            <a:ext cx="2011680" cy="68580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Backend</a:t>
            </a:r>
            <a:endParaRPr lang="en-US" sz="1600" dirty="0"/>
          </a:p>
        </p:txBody>
      </p:sp>
      <p:sp>
        <p:nvSpPr>
          <p:cNvPr id="9" name="layer-tools1"/>
          <p:cNvSpPr/>
          <p:nvPr/>
        </p:nvSpPr>
        <p:spPr>
          <a:xfrm>
            <a:off x="2560320" y="1920240"/>
            <a:ext cx="61264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743200" y="19202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(Python) with PostgreSQL or Firebase</a:t>
            </a:r>
            <a:endParaRPr lang="en-US" sz="1400" dirty="0"/>
          </a:p>
        </p:txBody>
      </p:sp>
      <p:sp>
        <p:nvSpPr>
          <p:cNvPr id="11" name="layer-label2"/>
          <p:cNvSpPr/>
          <p:nvPr/>
        </p:nvSpPr>
        <p:spPr>
          <a:xfrm>
            <a:off x="457200" y="2743200"/>
            <a:ext cx="201168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2743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/ ML</a:t>
            </a:r>
            <a:endParaRPr lang="en-US" sz="1600" dirty="0"/>
          </a:p>
        </p:txBody>
      </p:sp>
      <p:sp>
        <p:nvSpPr>
          <p:cNvPr id="13" name="layer-tools2"/>
          <p:cNvSpPr/>
          <p:nvPr/>
        </p:nvSpPr>
        <p:spPr>
          <a:xfrm>
            <a:off x="2560320" y="2743200"/>
            <a:ext cx="61264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743200" y="27432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scikit-learn, XGBoost, TensorFlow Lite, SHAP</a:t>
            </a:r>
            <a:endParaRPr lang="en-US" sz="1400" dirty="0"/>
          </a:p>
        </p:txBody>
      </p:sp>
      <p:sp>
        <p:nvSpPr>
          <p:cNvPr id="15" name="layer-label3"/>
          <p:cNvSpPr/>
          <p:nvPr/>
        </p:nvSpPr>
        <p:spPr>
          <a:xfrm>
            <a:off x="457200" y="3566160"/>
            <a:ext cx="2011680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8640" y="3566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&amp; IoT</a:t>
            </a:r>
            <a:endParaRPr lang="en-US" sz="1600" dirty="0"/>
          </a:p>
        </p:txBody>
      </p:sp>
      <p:sp>
        <p:nvSpPr>
          <p:cNvPr id="17" name="layer-tools3"/>
          <p:cNvSpPr/>
          <p:nvPr/>
        </p:nvSpPr>
        <p:spPr>
          <a:xfrm>
            <a:off x="2560320" y="3566160"/>
            <a:ext cx="61264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743200" y="35661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Sentinel Hub, Open-Meteo API, ESP32 soil sensor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Built to run on low bandwidth, so small farmers are not left 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From one farm to the whole supply chain</a:t>
            </a:r>
            <a:endParaRPr lang="en-US" dirty="0"/>
          </a:p>
        </p:txBody>
      </p:sp>
      <p:sp>
        <p:nvSpPr>
          <p:cNvPr id="3" name="stage-circle0"/>
          <p:cNvSpPr/>
          <p:nvPr/>
        </p:nvSpPr>
        <p:spPr>
          <a:xfrm>
            <a:off x="914400" y="1188720"/>
            <a:ext cx="1371600" cy="13716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743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Plot alerts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Each farmer gets a stress status and action</a:t>
            </a:r>
            <a:endParaRPr lang="en-US" sz="1600" dirty="0"/>
          </a:p>
        </p:txBody>
      </p:sp>
      <p:sp>
        <p:nvSpPr>
          <p:cNvPr id="6" name="stage-circle1"/>
          <p:cNvSpPr/>
          <p:nvPr/>
        </p:nvSpPr>
        <p:spPr>
          <a:xfrm>
            <a:off x="3886200" y="1188720"/>
            <a:ext cx="1371600" cy="1371600"/>
          </a:xfrm>
          <a:prstGeom prst="ellipse">
            <a:avLst/>
          </a:prstGeom>
          <a:solidFill>
            <a:schemeClr val="accent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88620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743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Village cluster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Alerts roll up into a yield-risk map</a:t>
            </a:r>
            <a:endParaRPr lang="en-US" sz="1600" dirty="0"/>
          </a:p>
        </p:txBody>
      </p:sp>
      <p:sp>
        <p:nvSpPr>
          <p:cNvPr id="9" name="stage-circle2"/>
          <p:cNvSpPr/>
          <p:nvPr/>
        </p:nvSpPr>
        <p:spPr>
          <a:xfrm>
            <a:off x="6858000" y="1188720"/>
            <a:ext cx="1371600" cy="137160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743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FPO, mandi, buyer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Early view of supply for planning</a:t>
            </a:r>
            <a:endParaRPr lang="en-US" sz="1600" dirty="0"/>
          </a:p>
        </p:txBody>
      </p:sp>
      <p:sp>
        <p:nvSpPr>
          <p:cNvPr id="12" name="stage-arrow0"/>
          <p:cNvSpPr/>
          <p:nvPr/>
        </p:nvSpPr>
        <p:spPr>
          <a:xfrm>
            <a:off x="2377440" y="1874520"/>
            <a:ext cx="14173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tage-arrow1"/>
          <p:cNvSpPr/>
          <p:nvPr/>
        </p:nvSpPr>
        <p:spPr>
          <a:xfrm>
            <a:off x="5349240" y="1874520"/>
            <a:ext cx="14173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benefit0"/>
          <p:cNvSpPr/>
          <p:nvPr/>
        </p:nvSpPr>
        <p:spPr>
          <a:xfrm>
            <a:off x="457200" y="40233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Better procurement planning</a:t>
            </a:r>
            <a:endParaRPr lang="en-US" sz="1300" dirty="0"/>
          </a:p>
        </p:txBody>
      </p:sp>
      <p:sp>
        <p:nvSpPr>
          <p:cNvPr id="16" name="benefit1"/>
          <p:cNvSpPr/>
          <p:nvPr/>
        </p:nvSpPr>
        <p:spPr>
          <a:xfrm>
            <a:off x="3291840" y="40233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8328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Best harvest + dispatch window</a:t>
            </a:r>
            <a:endParaRPr lang="en-US" sz="1300" dirty="0"/>
          </a:p>
        </p:txBody>
      </p:sp>
      <p:sp>
        <p:nvSpPr>
          <p:cNvPr id="18" name="benefit2"/>
          <p:cNvSpPr/>
          <p:nvPr/>
        </p:nvSpPr>
        <p:spPr>
          <a:xfrm>
            <a:off x="6126480" y="40233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Less post-harvest loss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Roadmap: prototype to pilot to scale</a:t>
            </a:r>
            <a:endParaRPr lang="en-US" dirty="0"/>
          </a:p>
        </p:txBody>
      </p:sp>
      <p:sp>
        <p:nvSpPr>
          <p:cNvPr id="3" name="roadmap-line"/>
          <p:cNvSpPr/>
          <p:nvPr/>
        </p:nvSpPr>
        <p:spPr>
          <a:xfrm>
            <a:off x="1737360" y="1463040"/>
            <a:ext cx="56692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phase-dot0"/>
          <p:cNvSpPr/>
          <p:nvPr/>
        </p:nvSpPr>
        <p:spPr>
          <a:xfrm>
            <a:off x="1554480" y="1280160"/>
            <a:ext cx="365760" cy="36576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phase-card0"/>
          <p:cNvSpPr/>
          <p:nvPr/>
        </p:nvSpPr>
        <p:spPr>
          <a:xfrm>
            <a:off x="457200" y="192024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phase-bar0"/>
          <p:cNvSpPr/>
          <p:nvPr/>
        </p:nvSpPr>
        <p:spPr>
          <a:xfrm>
            <a:off x="457200" y="1920240"/>
            <a:ext cx="2560320" cy="91440"/>
          </a:xfrm>
          <a:prstGeom prst="roundRect">
            <a:avLst>
              <a:gd name="adj" fmla="val 100000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 1: Prototype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Weeks 1 to 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crop, one region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Satellite + weather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Explanation engine working</a:t>
            </a:r>
            <a:endParaRPr lang="en-US" sz="1300" dirty="0"/>
          </a:p>
        </p:txBody>
      </p:sp>
      <p:sp>
        <p:nvSpPr>
          <p:cNvPr id="10" name="phase-dot1"/>
          <p:cNvSpPr/>
          <p:nvPr/>
        </p:nvSpPr>
        <p:spPr>
          <a:xfrm>
            <a:off x="4389120" y="1280160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phase-card1"/>
          <p:cNvSpPr/>
          <p:nvPr/>
        </p:nvSpPr>
        <p:spPr>
          <a:xfrm>
            <a:off x="3291840" y="192024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phase-bar1"/>
          <p:cNvSpPr/>
          <p:nvPr/>
        </p:nvSpPr>
        <p:spPr>
          <a:xfrm>
            <a:off x="3291840" y="1920240"/>
            <a:ext cx="2560320" cy="91440"/>
          </a:xfrm>
          <a:prstGeom prst="roundRect">
            <a:avLst>
              <a:gd name="adj" fmla="val 100000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 2: Pilot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Weeks 5 to 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Soil sensor + leaf scan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Tamil text and voice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 with local farmers</a:t>
            </a:r>
            <a:endParaRPr lang="en-US" sz="1300" dirty="0"/>
          </a:p>
        </p:txBody>
      </p:sp>
      <p:sp>
        <p:nvSpPr>
          <p:cNvPr id="16" name="phase-dot2"/>
          <p:cNvSpPr/>
          <p:nvPr/>
        </p:nvSpPr>
        <p:spPr>
          <a:xfrm>
            <a:off x="7223760" y="128016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phase-card2"/>
          <p:cNvSpPr/>
          <p:nvPr/>
        </p:nvSpPr>
        <p:spPr>
          <a:xfrm>
            <a:off x="6126480" y="192024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phase-bar2"/>
          <p:cNvSpPr/>
          <p:nvPr/>
        </p:nvSpPr>
        <p:spPr>
          <a:xfrm>
            <a:off x="6126480" y="1920240"/>
            <a:ext cx="2560320" cy="91440"/>
          </a:xfrm>
          <a:prstGeom prst="roundRect">
            <a:avLst>
              <a:gd name="adj" fmla="val 100000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 3: Scale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Month 3 onward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More crops and regions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Cluster yield dashboard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FPO and mandi tie-ups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Why it wins, and how we will demo it</a:t>
            </a:r>
            <a:endParaRPr lang="en-US" dirty="0"/>
          </a:p>
        </p:txBody>
      </p:sp>
      <p:sp>
        <p:nvSpPr>
          <p:cNvPr id="3" name="pillar0"/>
          <p:cNvSpPr/>
          <p:nvPr/>
        </p:nvSpPr>
        <p:spPr>
          <a:xfrm>
            <a:off x="45720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illar-bar0"/>
          <p:cNvSpPr/>
          <p:nvPr/>
        </p:nvSpPr>
        <p:spPr>
          <a:xfrm>
            <a:off x="457200" y="1097280"/>
            <a:ext cx="109728" cy="1188720"/>
          </a:xfrm>
          <a:prstGeom prst="roundRect">
            <a:avLst>
              <a:gd name="adj" fmla="val 83333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Explainable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Reasons build farmer trust</a:t>
            </a:r>
            <a:endParaRPr lang="en-US" sz="1800" dirty="0"/>
          </a:p>
        </p:txBody>
      </p:sp>
      <p:sp>
        <p:nvSpPr>
          <p:cNvPr id="6" name="pillar1"/>
          <p:cNvSpPr/>
          <p:nvPr/>
        </p:nvSpPr>
        <p:spPr>
          <a:xfrm>
            <a:off x="329184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illar-bar1"/>
          <p:cNvSpPr/>
          <p:nvPr/>
        </p:nvSpPr>
        <p:spPr>
          <a:xfrm>
            <a:off x="3291840" y="1097280"/>
            <a:ext cx="109728" cy="1188720"/>
          </a:xfrm>
          <a:prstGeom prst="roundRect">
            <a:avLst>
              <a:gd name="adj" fmla="val 83333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280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Low-cost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Starts free with satellite data</a:t>
            </a:r>
            <a:endParaRPr lang="en-US" sz="1800" dirty="0"/>
          </a:p>
        </p:txBody>
      </p:sp>
      <p:sp>
        <p:nvSpPr>
          <p:cNvPr id="9" name="pillar2"/>
          <p:cNvSpPr/>
          <p:nvPr/>
        </p:nvSpPr>
        <p:spPr>
          <a:xfrm>
            <a:off x="612648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illar-bar2"/>
          <p:cNvSpPr/>
          <p:nvPr/>
        </p:nvSpPr>
        <p:spPr>
          <a:xfrm>
            <a:off x="6126480" y="1097280"/>
            <a:ext cx="109728" cy="1188720"/>
          </a:xfrm>
          <a:prstGeom prst="roundRect">
            <a:avLst>
              <a:gd name="adj" fmla="val 83333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280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Local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Tamil text and voice readout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LIVE DEMO FLOW</a:t>
            </a:r>
            <a:endParaRPr lang="en-US" sz="1200" dirty="0"/>
          </a:p>
        </p:txBody>
      </p:sp>
      <p:sp>
        <p:nvSpPr>
          <p:cNvPr id="13" name="demo-line"/>
          <p:cNvSpPr/>
          <p:nvPr/>
        </p:nvSpPr>
        <p:spPr>
          <a:xfrm>
            <a:off x="1005840" y="3108960"/>
            <a:ext cx="713232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4" name="demo-dot0"/>
          <p:cNvSpPr/>
          <p:nvPr/>
        </p:nvSpPr>
        <p:spPr>
          <a:xfrm>
            <a:off x="804672" y="2907792"/>
            <a:ext cx="402336" cy="40233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Pick a plot on the map</a:t>
            </a:r>
            <a:endParaRPr lang="en-US" sz="1200" dirty="0"/>
          </a:p>
        </p:txBody>
      </p:sp>
      <p:sp>
        <p:nvSpPr>
          <p:cNvPr id="17" name="demo-dot1"/>
          <p:cNvSpPr/>
          <p:nvPr/>
        </p:nvSpPr>
        <p:spPr>
          <a:xfrm>
            <a:off x="2587752" y="2907792"/>
            <a:ext cx="402336" cy="40233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87752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See stress zones</a:t>
            </a:r>
            <a:endParaRPr lang="en-US" sz="1200" dirty="0"/>
          </a:p>
        </p:txBody>
      </p:sp>
      <p:sp>
        <p:nvSpPr>
          <p:cNvPr id="20" name="demo-dot2"/>
          <p:cNvSpPr/>
          <p:nvPr/>
        </p:nvSpPr>
        <p:spPr>
          <a:xfrm>
            <a:off x="4370832" y="2907792"/>
            <a:ext cx="402336" cy="40233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70832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 the “why”</a:t>
            </a:r>
            <a:endParaRPr lang="en-US" sz="1200" dirty="0"/>
          </a:p>
        </p:txBody>
      </p:sp>
      <p:sp>
        <p:nvSpPr>
          <p:cNvPr id="23" name="demo-dot3"/>
          <p:cNvSpPr/>
          <p:nvPr/>
        </p:nvSpPr>
        <p:spPr>
          <a:xfrm>
            <a:off x="6153912" y="2907792"/>
            <a:ext cx="402336" cy="40233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53912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Scan a leaf photo</a:t>
            </a:r>
            <a:endParaRPr lang="en-US" sz="1200" dirty="0"/>
          </a:p>
        </p:txBody>
      </p:sp>
      <p:sp>
        <p:nvSpPr>
          <p:cNvPr id="26" name="demo-dot4"/>
          <p:cNvSpPr/>
          <p:nvPr/>
        </p:nvSpPr>
        <p:spPr>
          <a:xfrm>
            <a:off x="7936992" y="2907792"/>
            <a:ext cx="402336" cy="40233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36992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View cluster risk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Don’t just tell the farmer what. Tell them why.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Thank You</a:t>
            </a:r>
            <a:endParaRPr lang="en-US" dirty="0"/>
          </a:p>
        </p:txBody>
      </p:sp>
      <p:sp>
        <p:nvSpPr>
          <p:cNvPr id="3" name="pulse0"/>
          <p:cNvSpPr/>
          <p:nvPr/>
        </p:nvSpPr>
        <p:spPr>
          <a:xfrm>
            <a:off x="5760720" y="822960"/>
            <a:ext cx="3108960" cy="31089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pulse1"/>
          <p:cNvSpPr/>
          <p:nvPr/>
        </p:nvSpPr>
        <p:spPr>
          <a:xfrm>
            <a:off x="6217920" y="1280160"/>
            <a:ext cx="2194560" cy="219456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pulse2"/>
          <p:cNvSpPr/>
          <p:nvPr/>
        </p:nvSpPr>
        <p:spPr>
          <a:xfrm>
            <a:off x="6675120" y="1737360"/>
            <a:ext cx="1280160" cy="128016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pulse-core"/>
          <p:cNvSpPr/>
          <p:nvPr/>
        </p:nvSpPr>
        <p:spPr>
          <a:xfrm>
            <a:off x="7132320" y="21945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TEAM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06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PRIME ELITE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37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S. Om Manikandan (25AD148)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Muthayammal Engineering College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43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FarmPulse  ·  IC26-01-01  ·  Innovators Conclave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rmPulse">
  <a:themeElements>
    <a:clrScheme name="FarmPulse">
      <a:dk1>
        <a:srgbClr val="0B2A21"/>
      </a:dk1>
      <a:lt1>
        <a:srgbClr val="FFFFFF"/>
      </a:lt1>
      <a:dk2>
        <a:srgbClr val="14503F"/>
      </a:dk2>
      <a:lt2>
        <a:srgbClr val="F2F7EF"/>
      </a:lt2>
      <a:accent1>
        <a:srgbClr val="2FBF71"/>
      </a:accent1>
      <a:accent2>
        <a:srgbClr val="F5A623"/>
      </a:accent2>
      <a:accent3>
        <a:srgbClr val="E5533D"/>
      </a:accent3>
      <a:accent4>
        <a:srgbClr val="3A8FD6"/>
      </a:accent4>
      <a:accent5>
        <a:srgbClr val="7A5C3E"/>
      </a:accent5>
      <a:accent6>
        <a:srgbClr val="A8D86E"/>
      </a:accent6>
      <a:hlink>
        <a:srgbClr val="3A8FD6"/>
      </a:hlink>
      <a:folHlink>
        <a:srgbClr val="7A5C3E"/>
      </a:folHlink>
    </a:clrScheme>
    <a:fontScheme name="FarmPuls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FarmPulse: Explainable Crop Stress Advisory</dc:title>
  <dc:subject>PptxGenJS Presentation</dc:subject>
  <dc:creator>PptxGenJS</dc:creator>
  <cp:lastModifiedBy>PptxGenJS</cp:lastModifiedBy>
  <cp:revision>1</cp:revision>
  <dcterms:created xsi:type="dcterms:W3CDTF">2026-10-21T14:18:56Z</dcterms:created>
  <dcterms:modified xsi:type="dcterms:W3CDTF">2026-10-21T14:18:56Z</dcterms:modified>
</cp:coreProperties>
</file>